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3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003"/>
    <p:restoredTop sz="94610"/>
  </p:normalViewPr>
  <p:slideViewPr>
    <p:cSldViewPr snapToGrid="0" snapToObjects="1">
      <p:cViewPr varScale="1">
        <p:scale>
          <a:sx n="151" d="100"/>
          <a:sy n="151" d="100"/>
        </p:scale>
        <p:origin x="200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99196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627832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701338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7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7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686250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8"/>
            <a:ext cx="3886200" cy="326350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8"/>
            <a:ext cx="3886200" cy="326350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6413869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4/21/26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362223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6131387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4/21/26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382819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899739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9978972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01619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3"/>
            <a:ext cx="1971675" cy="4358879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3"/>
            <a:ext cx="5800725" cy="435887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763747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9016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8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4/21/26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6163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ugatpokharel/ecg-heartbeat-classification-xai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ECG Heartbeat Classification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Explainable Artificial Intelligence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Interim Presentation  |  BSc Computing — Final Year Project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Saugat Pokharel  |  Student No: 3093315  |  Supervisor: Atif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914400" y="3840480"/>
            <a:ext cx="2286000" cy="1005840"/>
          </a:xfrm>
          <a:prstGeom prst="rect">
            <a:avLst/>
          </a:prstGeom>
          <a:solidFill>
            <a:srgbClr val="11224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14400" y="38862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MIT-BIH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14400" y="431596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— 48 patients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3867574" y="3840480"/>
            <a:ext cx="2286000" cy="1005840"/>
          </a:xfrm>
          <a:prstGeom prst="rect">
            <a:avLst/>
          </a:prstGeom>
          <a:solidFill>
            <a:srgbClr val="11224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749040" y="38862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102,382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749040" y="431596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Heartbeats extracted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583680" y="3840480"/>
            <a:ext cx="2286000" cy="1005840"/>
          </a:xfrm>
          <a:prstGeom prst="rect">
            <a:avLst/>
          </a:prstGeom>
          <a:solidFill>
            <a:srgbClr val="11224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0" y="38862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+ XAI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583680" y="431596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— SHAP &amp; LIME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92608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82880" y="27432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2600" dirty="0"/>
          </a:p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82880" y="146304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1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disease is a leading cause of death worldwide. Manual ECG interpretation is slow and requires specialist knowledge.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182880" y="283464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1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automated ML system to classify heartbeats as Normal or Abnormal with explainable AI showing why each decision was made</a:t>
            </a: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0" y="274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411480" cy="4114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0" y="8686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703320" y="868680"/>
            <a:ext cx="5120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ECG Signal Processing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703320" y="1069848"/>
            <a:ext cx="5120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Load and process real patient ECG data from MIT-BIH Arrhythmia Database using WFDB library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1673352"/>
            <a:ext cx="411480" cy="4114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0" y="16733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703320" y="1673352"/>
            <a:ext cx="5120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Heartbeat Segmentation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703320" y="1874520"/>
            <a:ext cx="5120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Extract 102,382 individual heartbeats using R-peak annotation positions across 48 patients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0" y="2478024"/>
            <a:ext cx="411480" cy="4114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00400" y="247802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03320" y="2478024"/>
            <a:ext cx="5120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Classification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703320" y="2679192"/>
            <a:ext cx="5120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Train Random Forest and SVM models to classify Normal vs Abnormal beats with high accuracy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0" y="3282696"/>
            <a:ext cx="411480" cy="4114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00400" y="328269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703320" y="3282696"/>
            <a:ext cx="5120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AI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703320" y="3483864"/>
            <a:ext cx="5120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Use SHAP and LIME to explain model decisions — making the system transparent and trustworthy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0" y="4087368"/>
            <a:ext cx="411480" cy="4114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200400" y="408736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703320" y="4087368"/>
            <a:ext cx="5120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Interface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703320" y="4288536"/>
            <a:ext cx="5120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web app to visualise ECG signals, view predictions and explore explanations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So Far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 &amp; 2 complete — Phase 3 in progress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2834640" cy="3749040"/>
          </a:xfrm>
          <a:prstGeom prst="rect">
            <a:avLst/>
          </a:prstGeom>
          <a:solidFill>
            <a:srgbClr val="112240"/>
          </a:solidFill>
          <a:ln w="254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834640" cy="320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1097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146304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Data Loading ✓</a:t>
            </a:r>
            <a:endParaRPr lang="en-US" sz="1200" dirty="0">
              <a:solidFill>
                <a:srgbClr val="00B050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365760" y="19202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MIT-BIH Arrhythmia Database (48 patients)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365760" y="2450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Explored ECG signal structure — 360 Hz, 30 min recordings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365760" y="2980944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112,647 annotated heartbeats across database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365760" y="3511296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Discovered class imbalance: 66.6% Normal beats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365760" y="404164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Visualised raw ECG signals with annotation markers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246120" y="1097280"/>
            <a:ext cx="2834640" cy="3749040"/>
          </a:xfrm>
          <a:prstGeom prst="rect">
            <a:avLst/>
          </a:prstGeom>
          <a:solidFill>
            <a:srgbClr val="112240"/>
          </a:solidFill>
          <a:ln w="254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246120" y="1097280"/>
            <a:ext cx="2834640" cy="320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46120" y="1097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37560" y="146304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Segmentation ✓</a:t>
            </a:r>
            <a:endParaRPr lang="en-US" sz="1200" dirty="0">
              <a:solidFill>
                <a:srgbClr val="00B050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3337560" y="19202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segmentation function with 360-sample window per beat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3337560" y="2450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102,382 individual heartbeats from all 48 records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3337560" y="2980944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Filtered invalid rhythm markers and paced beats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3337560" y="3511296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binary labels: Normal (75,011) vs Abnormal (27,371)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2" name="Text 20"/>
          <p:cNvSpPr/>
          <p:nvPr/>
        </p:nvSpPr>
        <p:spPr>
          <a:xfrm>
            <a:off x="3337560" y="404164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dataset as numpy arrays for Phase 3 onwards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17920" y="1097280"/>
            <a:ext cx="2834640" cy="3749040"/>
          </a:xfrm>
          <a:prstGeom prst="rect">
            <a:avLst/>
          </a:prstGeom>
          <a:solidFill>
            <a:srgbClr val="11224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217920" y="1097280"/>
            <a:ext cx="2834640" cy="320040"/>
          </a:xfrm>
          <a:prstGeom prst="rect">
            <a:avLst/>
          </a:prstGeom>
          <a:solidFill>
            <a:srgbClr val="1C3A5E"/>
          </a:solidFill>
          <a:ln w="12700">
            <a:solidFill>
              <a:srgbClr val="1C3A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217920" y="1097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09360" y="146304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EDA &amp; Features</a:t>
            </a:r>
            <a:endParaRPr lang="en-US" sz="1200" dirty="0">
              <a:solidFill>
                <a:srgbClr val="FFC000"/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6309360" y="19202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segmented dataset successfully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6309360" y="2450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Visualised average beat shape per class (N, L, R, V, A)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9" name="Text 27"/>
          <p:cNvSpPr/>
          <p:nvPr/>
        </p:nvSpPr>
        <p:spPr>
          <a:xfrm>
            <a:off x="6309360" y="2980944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visual differences between beat types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0" name="Text 28"/>
          <p:cNvSpPr/>
          <p:nvPr/>
        </p:nvSpPr>
        <p:spPr>
          <a:xfrm>
            <a:off x="6309360" y="3511296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extraction upcoming — statistical + signal features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1" name="Text 29"/>
          <p:cNvSpPr/>
          <p:nvPr/>
        </p:nvSpPr>
        <p:spPr>
          <a:xfrm>
            <a:off x="6309360" y="404164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preparation for ML model training</a:t>
            </a:r>
            <a:endParaRPr lang="en-US" sz="1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Work &amp; Challenges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4754880" cy="36576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Phases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822960" cy="7315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1234440"/>
            <a:ext cx="822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280160" y="1234440"/>
            <a:ext cx="37490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12801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&amp; Feature Extraction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371600" y="155448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statistical features (mean, std, skewness, RR interval) from each beat for ML input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148840"/>
            <a:ext cx="822960" cy="7315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5760" y="2148840"/>
            <a:ext cx="822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80160" y="2148840"/>
            <a:ext cx="37490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371600" y="21945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 Training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71600" y="246888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Random Forest + SVM classifiers, evaluate with accuracy, precision, recall and F1-score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822960" cy="7315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65760" y="3063240"/>
            <a:ext cx="822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280160" y="3063240"/>
            <a:ext cx="37490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371600" y="31089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AI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371600" y="338328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SHAP and LIME to explain individual and global model predictions transparently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3977640"/>
            <a:ext cx="822960" cy="7315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65760" y="3977640"/>
            <a:ext cx="822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280160" y="3977640"/>
            <a:ext cx="37490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371600" y="40233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App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371600" y="429768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interactive web interface to visualise ECG signals, predictions and XAI explanations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394960" y="777240"/>
            <a:ext cx="3383280" cy="36576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394960" y="7772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Encountered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394960" y="1234440"/>
            <a:ext cx="33832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394960" y="1234440"/>
            <a:ext cx="54864" cy="7315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532120" y="1280160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large file issue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532120" y="1554480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environment files (110MB) were accidentally committed. Resolved by creating a clean separate project folder.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94960" y="2148840"/>
            <a:ext cx="33832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5394960" y="2148840"/>
            <a:ext cx="54864" cy="7315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532120" y="2194560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 M4 compatibility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532120" y="2468880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libraries needed specific installation steps on Apple Silicon. Resolved using conda environment.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94960" y="3063240"/>
            <a:ext cx="33832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5394960" y="3063240"/>
            <a:ext cx="54864" cy="7315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532120" y="3108960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532120" y="3383280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73.3% of beats are Normal. Will be addressed using class_weight balanced parameter in scikit-learn.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394960" y="3977640"/>
            <a:ext cx="33832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5394960" y="3977640"/>
            <a:ext cx="54864" cy="7315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532120" y="4023360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cs typeface="Calibri" pitchFamily="34" charset="-120"/>
              </a:rPr>
              <a:t>Handling class imbalance in classification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532120" y="4297680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Identifying and planning the correct strategy, using class weight balanced and appropriate evaluation metrics 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0" y="4853594"/>
            <a:ext cx="9144000" cy="3429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Git hub Link: </a:t>
            </a:r>
            <a:r>
              <a:rPr lang="en-US" dirty="0">
                <a:solidFill>
                  <a:schemeClr val="bg1"/>
                </a:solidFill>
                <a:hlinkClick r:id="rId3"/>
              </a:rPr>
              <a:t>https://github.com/saugatpokharel/ecg-heartbeat-classification-xai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45" name="Text 43"/>
          <p:cNvSpPr/>
          <p:nvPr/>
        </p:nvSpPr>
        <p:spPr>
          <a:xfrm>
            <a:off x="274320" y="4800600"/>
            <a:ext cx="85953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951</TotalTime>
  <Words>524</Words>
  <Application>Microsoft Macintosh PowerPoint</Application>
  <PresentationFormat>On-screen Show (16:9)</PresentationFormat>
  <Paragraphs>84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2013 - 2022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ECG Heartbeat Classification - Interim Presentation</dc:title>
  <dc:subject>Presentation</dc:subject>
  <dc:creator>Saugat Pokharel</dc:creator>
  <cp:keywords/>
  <dc:description/>
  <cp:lastModifiedBy>Saugat Pokharel</cp:lastModifiedBy>
  <cp:revision>4</cp:revision>
  <dcterms:created xsi:type="dcterms:W3CDTF">2026-04-16T19:51:46Z</dcterms:created>
  <dcterms:modified xsi:type="dcterms:W3CDTF">2026-04-21T00:42:05Z</dcterms:modified>
  <cp:category/>
</cp:coreProperties>
</file>